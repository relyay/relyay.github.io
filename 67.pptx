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 /><Relationship Id="rId14" Type="http://schemas.openxmlformats.org/officeDocument/2006/relationships/tableStyles" Target="tableStyles.xml" /><Relationship Id="rId1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123949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5456567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196154312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97300130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68470620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2381865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9779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82866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96834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7867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79012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92927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BE6DC3-BB95-DDEA-AC61-341929A62E1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7482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571746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7284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B2C450B-F8F3-C4F2-57B6-B9F19FCC32F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45820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61925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0396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9D536-540F-B3D4-C1EB-15A5A41210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05025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81400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7681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98A3E1-22D3-B29C-6196-DDDB872C2DD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08156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008110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91335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0CEBDB-26D6-7919-A7BF-973BF3685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742274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689118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23674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E48261-168E-A168-C441-881A9819BF1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53870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04168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59548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029A-2740-3B14-58F4-990AF0D0E3C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0050992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477092650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715425063" name="Shape 1061"/>
          <p:cNvSpPr>
            <a:spLocks noChangeArrowheads="1" noGrp="1"/>
          </p:cNvSpPr>
          <p:nvPr userDrawn="1"/>
        </p:nvSpPr>
        <p:spPr bwMode="auto">
          <a:xfrm>
            <a:off x="6567030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242758269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77059856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925381226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5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34471020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6804147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86437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841860465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5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440142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960786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0937705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70295906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85684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5263426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76521893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40920679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98540963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080110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00547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7216572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74785866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81611047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20640365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12909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814887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2499536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11173027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8167049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10229396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55374968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61150244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47675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769847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4291961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6428482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009978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939109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33537187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802632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789494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32428119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3366825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4577629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13375521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5511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438180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740065644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146499293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44225966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91287861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502664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937848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9638496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81378631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70394120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4039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253860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0077187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90974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82390841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83187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609668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918581379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615026735" name="Shape 1061"/>
          <p:cNvSpPr>
            <a:spLocks noChangeArrowheads="1" noGrp="1"/>
          </p:cNvSpPr>
          <p:nvPr userDrawn="1"/>
        </p:nvSpPr>
        <p:spPr bwMode="auto">
          <a:xfrm>
            <a:off x="1637456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371959880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1863047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8337290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84487980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57986425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hij.ru/" TargetMode="Externa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9535222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1646998" y="1808820"/>
            <a:ext cx="9669579" cy="720079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 algn="l">
              <a:defRPr/>
            </a:pPr>
            <a:r>
              <a:rPr lang="ru-RU" sz="72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Коррозия металлов</a:t>
            </a:r>
            <a:r>
              <a:rPr lang="en-US" sz="72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.</a:t>
            </a:r>
            <a:br>
              <a:rPr lang="en-US" sz="72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</a:br>
            <a:r>
              <a:rPr lang="ru-RU" sz="72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Защита от коррозии</a:t>
            </a:r>
            <a:r>
              <a:rPr lang="en-US" sz="72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.</a:t>
            </a:r>
            <a:endParaRPr sz="7200">
              <a:solidFill>
                <a:schemeClr val="tx1"/>
              </a:solidFill>
            </a:endParaRPr>
          </a:p>
        </p:txBody>
      </p:sp>
      <p:sp>
        <p:nvSpPr>
          <p:cNvPr id="1596585459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136692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7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Что такое коррозия</a:t>
            </a:r>
            <a:endParaRPr sz="7200">
              <a:latin typeface="Arial"/>
              <a:cs typeface="Arial"/>
            </a:endParaRPr>
          </a:p>
        </p:txBody>
      </p:sp>
      <p:sp>
        <p:nvSpPr>
          <p:cNvPr id="855526098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Коррозия </a:t>
            </a: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(от лат. </a:t>
            </a:r>
            <a:r>
              <a:rPr sz="2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corrodere</a:t>
            </a: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 — разъедать) — самопроизвольное разрушение металлов под воздействием окружающей среды. С химической точки зрения это </a:t>
            </a:r>
            <a:r>
              <a:rPr lang="ru-RU"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ОВР (</a:t>
            </a:r>
            <a:r>
              <a:rPr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окислительно-восстановительн</a:t>
            </a:r>
            <a:r>
              <a:rPr lang="ru-RU"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ая реакция</a:t>
            </a:r>
            <a:r>
              <a:rPr lang="ru-RU"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, где металл отдаёт электроны (</a:t>
            </a:r>
            <a:r>
              <a:rPr lang="ru-RU"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восстановитель</a:t>
            </a: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).</a:t>
            </a:r>
            <a:endParaRPr sz="2800">
              <a:latin typeface="Arial"/>
              <a:ea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endParaRPr sz="2800"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lang="ru-RU"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К</a:t>
            </a:r>
            <a:r>
              <a:rPr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оррозия </a:t>
            </a: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— это путь металла к его природному состоянию.  Большинство металлов в земной коре находятся в виде оксидов или солей </a:t>
            </a: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руда</a:t>
            </a: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). Мы затрачиваем энергию, чтобы получить чистый металл, а коррозия  возвращает его обратно.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6078357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5000" lnSpcReduction="1000"/>
          </a:bodyPr>
          <a:lstStyle/>
          <a:p>
            <a:pPr algn="l">
              <a:defRPr/>
            </a:pPr>
            <a:r>
              <a:rPr lang="ru-RU" sz="7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Виды коррозии</a:t>
            </a:r>
            <a:endParaRPr sz="7200">
              <a:latin typeface="Arial"/>
              <a:cs typeface="Arial"/>
            </a:endParaRPr>
          </a:p>
        </p:txBody>
      </p:sp>
      <p:sp>
        <p:nvSpPr>
          <p:cNvPr id="883436515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>
              <a:buFont typeface="Arial"/>
              <a:buNone/>
              <a:defRPr/>
            </a:pPr>
            <a:r>
              <a:rPr lang="ru-RU" sz="3600" b="1"/>
              <a:t>По механизму</a:t>
            </a:r>
            <a:endParaRPr lang="ru-RU" sz="3600" b="1"/>
          </a:p>
          <a:p>
            <a:pPr marL="0" indent="0">
              <a:buFont typeface="Arial"/>
              <a:buNone/>
              <a:defRPr/>
            </a:pPr>
            <a:endParaRPr lang="ru-RU"/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Химическая коррозия</a:t>
            </a: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 – прямое взаимодействие металла с сухими газами (O₂, Cl₂, SO₂) без участия электролита.</a:t>
            </a:r>
            <a:endParaRPr sz="2800">
              <a:latin typeface="Arial"/>
              <a:ea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lang="ru-RU" sz="2800">
                <a:latin typeface="Arial"/>
                <a:ea typeface="Arial"/>
                <a:cs typeface="Arial"/>
              </a:rPr>
              <a:t>Например</a:t>
            </a:r>
            <a:r>
              <a:rPr lang="en-US" sz="2800">
                <a:latin typeface="Arial"/>
                <a:ea typeface="Arial"/>
                <a:cs typeface="Arial"/>
              </a:rPr>
              <a:t>: </a:t>
            </a: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потускнение серебра из-за сероводорода</a:t>
            </a:r>
            <a:br>
              <a:rPr lang="en-US" sz="2800">
                <a:latin typeface="Arial"/>
                <a:ea typeface="Arial"/>
                <a:cs typeface="Arial"/>
              </a:rPr>
            </a:br>
            <a:r>
              <a:rPr sz="36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4Ag + 2H₂S + O₂ </a:t>
            </a:r>
            <a:r>
              <a:rPr sz="36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→ 2Ag₂S + 2H₂O</a:t>
            </a:r>
            <a:endParaRPr lang="ru-RU" sz="3600"/>
          </a:p>
          <a:p>
            <a:pPr marL="0" indent="0">
              <a:buFont typeface="Arial"/>
              <a:buNone/>
              <a:defRPr/>
            </a:pPr>
            <a:endParaRPr lang="ru-RU"/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Электрохимическая коррозия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 – возникает в присутствии электролита (вода с растворёнными солями) и  образовании гальванических пар. Cамая распространённая форма </a:t>
            </a:r>
            <a:r>
              <a:rPr lang="ru-RU"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коррозии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.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4679283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endParaRPr/>
          </a:p>
        </p:txBody>
      </p:sp>
      <p:sp>
        <p:nvSpPr>
          <p:cNvPr id="191227253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274638"/>
            <a:ext cx="10972800" cy="585152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lang="ru-RU" sz="3600" b="1"/>
              <a:t>П</a:t>
            </a:r>
            <a:r>
              <a:rPr lang="ru-RU" sz="3600" b="1"/>
              <a:t>о характеру разрушения</a:t>
            </a:r>
            <a:endParaRPr lang="ru-RU" sz="3600" b="1"/>
          </a:p>
          <a:p>
            <a:pPr marL="0" indent="0">
              <a:buFont typeface="Arial"/>
              <a:buNone/>
              <a:defRPr/>
            </a:pPr>
            <a:endParaRPr lang="ru-RU"/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Сплошная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 (равномерная) – ржавчина по всей поверхности</a:t>
            </a:r>
            <a:endParaRPr lang="ru-RU" sz="2800">
              <a:latin typeface="Ariel"/>
              <a:ea typeface="Ariel"/>
              <a:cs typeface="Ariel"/>
            </a:endParaRPr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Местная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 (точечная, язвенная, межкристаллитная) – самая опасная, так как снижает прочность незаметно.</a:t>
            </a:r>
            <a:endParaRPr lang="ru-RU" sz="2800">
              <a:latin typeface="Ariel"/>
              <a:ea typeface="Ariel"/>
              <a:cs typeface="Ariel"/>
            </a:endParaRPr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Контактная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 – между двумя разными металлами (например, железо и медь).</a:t>
            </a:r>
            <a:endParaRPr lang="ru-RU"/>
          </a:p>
        </p:txBody>
      </p:sp>
      <p:pic>
        <p:nvPicPr>
          <p:cNvPr id="50435512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09599" y="4468090"/>
            <a:ext cx="4050763" cy="1939636"/>
          </a:xfrm>
          <a:prstGeom prst="rect">
            <a:avLst/>
          </a:prstGeom>
        </p:spPr>
      </p:pic>
      <p:pic>
        <p:nvPicPr>
          <p:cNvPr id="57826982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885352" y="4268065"/>
            <a:ext cx="3212629" cy="2139661"/>
          </a:xfrm>
          <a:prstGeom prst="rect">
            <a:avLst/>
          </a:prstGeom>
        </p:spPr>
      </p:pic>
      <p:pic>
        <p:nvPicPr>
          <p:cNvPr id="1741583864" name=""/>
          <p:cNvPicPr>
            <a:picLocks noChangeAspect="1"/>
          </p:cNvPicPr>
          <p:nvPr/>
        </p:nvPicPr>
        <p:blipFill rotWithShape="1">
          <a:blip r:embed="rId5"/>
          <a:srcRect l="46852" t="0" r="0" b="0"/>
          <a:stretch/>
        </p:blipFill>
        <p:spPr bwMode="auto">
          <a:xfrm flipH="0" flipV="0">
            <a:off x="8312767" y="4434753"/>
            <a:ext cx="3269631" cy="197297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615999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609599" y="274638"/>
            <a:ext cx="10972800" cy="244905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endParaRPr/>
          </a:p>
        </p:txBody>
      </p:sp>
      <p:sp>
        <p:nvSpPr>
          <p:cNvPr id="45725551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274638"/>
            <a:ext cx="10972800" cy="585152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>
              <a:buFont typeface="Arial"/>
              <a:buNone/>
              <a:defRPr/>
            </a:pPr>
            <a:r>
              <a:rPr lang="ru-RU" sz="2800">
                <a:solidFill>
                  <a:schemeClr val="tx1"/>
                </a:solidFill>
                <a:latin typeface="Arial"/>
                <a:ea typeface="Arial"/>
                <a:cs typeface="Arial"/>
              </a:rPr>
              <a:t>Рассмотрим</a:t>
            </a:r>
            <a:r>
              <a:rPr lang="en-US" sz="2800">
                <a:solidFill>
                  <a:schemeClr val="tx1"/>
                </a:solidFill>
                <a:latin typeface="Arial"/>
                <a:ea typeface="Arial"/>
                <a:cs typeface="Arial"/>
              </a:rPr>
              <a:t> </a:t>
            </a: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ржавление железа – классический пример электрохимической коррозии</a:t>
            </a:r>
            <a:endParaRPr lang="ru-RU" sz="280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endParaRPr lang="ru-RU" sz="280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Условия:</a:t>
            </a: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 наличие  воды и кислорода. На поверхности железа из-за примесей (углерод)  образуются микрогальванопары: анод – железо, катод – примесь.</a:t>
            </a:r>
            <a:endParaRPr>
              <a:solidFill>
                <a:schemeClr val="tx1"/>
              </a:solidFill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tx1"/>
              </a:solidFill>
              <a:latin typeface="Ariel"/>
              <a:cs typeface="Ariel"/>
            </a:endParaRPr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Стадия 1 – Электрохимическая (работа гальванопары)</a:t>
            </a:r>
            <a:br>
              <a:rPr sz="2800" b="1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</a:b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Одновременно идут два процесса:</a:t>
            </a:r>
            <a:endParaRPr sz="2800">
              <a:latin typeface="Ariel"/>
              <a:cs typeface="Ariel"/>
            </a:endParaRPr>
          </a:p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На аноде: 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Fe⁰ – 2e⁻ → Fe²⁺</a:t>
            </a:r>
            <a:endParaRPr sz="2800">
              <a:latin typeface="Ariel"/>
              <a:cs typeface="Ariel"/>
            </a:endParaRPr>
          </a:p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На катоде: 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O₂ + 2H₂O + 4e⁻ → 4OH⁻</a:t>
            </a:r>
            <a:endParaRPr sz="2800">
              <a:latin typeface="Ariel"/>
              <a:cs typeface="Ariel"/>
            </a:endParaRPr>
          </a:p>
          <a:p>
            <a:pPr marL="0" indent="0">
              <a:buFont typeface="Arial"/>
              <a:buNone/>
              <a:defRPr/>
            </a:pPr>
            <a:r>
              <a:rPr lang="ru-RU"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О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бразование ионов Fe²⁺ и OH⁻.</a:t>
            </a:r>
            <a:endParaRPr sz="2800">
              <a:solidFill>
                <a:schemeClr val="tx1"/>
              </a:solidFill>
              <a:latin typeface="Ariel"/>
              <a:cs typeface="Ariel"/>
            </a:endParaRPr>
          </a:p>
          <a:p>
            <a:pPr marL="0" indent="0">
              <a:buFont typeface="Arial"/>
              <a:buNone/>
              <a:defRPr/>
            </a:pPr>
            <a:endParaRPr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596431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609599" y="274638"/>
            <a:ext cx="10972800" cy="192952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endParaRPr/>
          </a:p>
        </p:txBody>
      </p:sp>
      <p:sp>
        <p:nvSpPr>
          <p:cNvPr id="190946075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274638"/>
            <a:ext cx="10972800" cy="637554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Стадия 2 – Химическая (образование осадка)</a:t>
            </a:r>
            <a:br>
              <a:rPr sz="2800" b="1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</a:b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Встречаясь в растворе, ионы реагируют:</a:t>
            </a:r>
            <a:b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</a:b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Fe²⁺ + 2OH⁻ → Fe(OH)₂↓</a:t>
            </a:r>
            <a:endParaRPr sz="2500">
              <a:latin typeface="Ariel"/>
              <a:ea typeface="Ariel"/>
              <a:cs typeface="Ariel"/>
            </a:endParaRPr>
          </a:p>
          <a:p>
            <a:pPr marL="0" indent="0">
              <a:buFont typeface="Arial"/>
              <a:buNone/>
              <a:defRPr/>
            </a:pPr>
            <a:r>
              <a:rPr lang="en-US" sz="3200" b="0" i="0" u="none" strike="noStrike" cap="none" spc="0">
                <a:solidFill>
                  <a:srgbClr val="000000"/>
                </a:solidFill>
                <a:latin typeface="Ariel"/>
                <a:ea typeface="Ariel"/>
                <a:cs typeface="Ariel"/>
              </a:rPr>
              <a:t>Fe(OH)₂</a:t>
            </a:r>
            <a:r>
              <a:rPr lang="ru-RU"/>
              <a:t> —</a:t>
            </a:r>
            <a:r>
              <a:rPr lang="ru-RU">
                <a:solidFill>
                  <a:schemeClr val="tx1"/>
                </a:solidFill>
              </a:rPr>
              <a:t> белый осадок гидроксида железа</a:t>
            </a:r>
            <a:r>
              <a:rPr lang="en-US">
                <a:solidFill>
                  <a:schemeClr val="tx1"/>
                </a:solidFill>
              </a:rPr>
              <a:t>(II)</a:t>
            </a:r>
            <a:endParaRPr/>
          </a:p>
          <a:p>
            <a:pPr marL="0" indent="0">
              <a:buFont typeface="Arial"/>
              <a:buNone/>
              <a:defRPr/>
            </a:pPr>
            <a:endParaRPr/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Стадия 3 – Окисление (ржавление)</a:t>
            </a:r>
            <a:br>
              <a:rPr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</a:b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Осадок Fe(OH)₂ неустойчив и окисляется кислородом воздуха:</a:t>
            </a:r>
            <a:b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</a:b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4Fe(OH)₂ + O₂ + 2H₂O → 4Fe(OH)₃</a:t>
            </a:r>
            <a:endParaRPr lang="en-US" sz="2800">
              <a:latin typeface="Arial"/>
              <a:ea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lang="ru-RU" sz="2800">
                <a:latin typeface="Arial"/>
                <a:ea typeface="Arial"/>
                <a:cs typeface="Arial"/>
              </a:rPr>
              <a:t>Б</a:t>
            </a:r>
            <a:r>
              <a:rPr lang="ru-RU" sz="2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елый осадок гидроксида железа</a:t>
            </a:r>
            <a:r>
              <a:rPr lang="en-US" sz="2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(II)</a:t>
            </a:r>
            <a:r>
              <a:rPr lang="ru-RU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превращается в бурый</a:t>
            </a:r>
            <a:endParaRPr lang="en-US" sz="2800">
              <a:latin typeface="Arial"/>
              <a:ea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endParaRPr lang="en-US">
              <a:solidFill>
                <a:schemeClr val="tx1"/>
              </a:solidFill>
            </a:endParaRPr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Стадия 4 – Высыхание (старение)</a:t>
            </a:r>
            <a:br>
              <a:rPr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</a:b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Со временем Fe(OH)₃ теряет воду и превращается в оксид:</a:t>
            </a:r>
            <a:b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</a:b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2Fe(OH)₃ → Fe₂O₃·nH₂O + (3–n)H₂O</a:t>
            </a:r>
            <a:endParaRPr/>
          </a:p>
          <a:p>
            <a:pPr marL="0" indent="0">
              <a:buFont typeface="Arial"/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024528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 algn="l">
              <a:defRPr/>
            </a:pPr>
            <a:r>
              <a:rPr sz="56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Способы защиты от коррозии</a:t>
            </a:r>
            <a:endParaRPr sz="5600">
              <a:latin typeface="Arial"/>
              <a:cs typeface="Arial"/>
            </a:endParaRPr>
          </a:p>
        </p:txBody>
      </p:sp>
      <p:sp>
        <p:nvSpPr>
          <p:cNvPr id="33377403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1417638"/>
            <a:ext cx="10972800" cy="508461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rgbClr val="000000"/>
                </a:solidFill>
                <a:latin typeface=" Arial"/>
                <a:ea typeface=" Arial"/>
                <a:cs typeface=" Arial"/>
              </a:rPr>
              <a:t>1. Изменение состава металла – легирование</a:t>
            </a:r>
            <a:endParaRPr sz="2800">
              <a:latin typeface=" Arial"/>
              <a:cs typeface=" Arial"/>
            </a:endParaRPr>
          </a:p>
          <a:p>
            <a:pPr marL="0" indent="0">
              <a:buFont typeface="Arial"/>
              <a:buNone/>
              <a:defRPr/>
            </a:pPr>
            <a:r>
              <a:rPr sz="2800" b="0" i="0" u="none">
                <a:solidFill>
                  <a:srgbClr val="000000"/>
                </a:solidFill>
                <a:latin typeface=" Arial"/>
                <a:ea typeface=" Arial"/>
                <a:cs typeface=" Arial"/>
              </a:rPr>
              <a:t>Добавление  хрома, никеля даёт нержавеющую сталь. Хром образует на поверхности  плотную оксидную плёнку Cr₂O₃, которая не даёт окисляться железу.</a:t>
            </a:r>
            <a:endParaRPr sz="2800" b="0" i="0" u="none">
              <a:solidFill>
                <a:srgbClr val="000000"/>
              </a:solidFill>
              <a:latin typeface=" Arial"/>
              <a:ea typeface=" Arial"/>
              <a:cs typeface=" Arial"/>
            </a:endParaRPr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2. Защитные покрытия</a:t>
            </a:r>
            <a:endParaRPr sz="2800" b="0" i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Неметаллические</a:t>
            </a:r>
            <a:r>
              <a:rPr sz="2800" b="1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: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 </a:t>
            </a:r>
            <a:endParaRPr sz="2800" b="0" i="0" u="none">
              <a:solidFill>
                <a:srgbClr val="000000"/>
              </a:solidFill>
              <a:latin typeface="Ariel"/>
              <a:ea typeface="Ariel"/>
              <a:cs typeface="Ariel"/>
            </a:endParaRPr>
          </a:p>
          <a:p>
            <a:pPr marL="0" indent="0">
              <a:buFont typeface="Arial"/>
              <a:buNone/>
              <a:defRPr/>
            </a:pPr>
            <a:r>
              <a:rPr lang="ru-RU"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Л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аки, краски, эмали, смазки. Изолируют металл от O₂ и H₂O.</a:t>
            </a:r>
            <a:endParaRPr sz="2800">
              <a:latin typeface="Ariel"/>
              <a:cs typeface="Ariel"/>
            </a:endParaRPr>
          </a:p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Металлические покрытия</a:t>
            </a:r>
            <a:r>
              <a:rPr sz="2800" b="1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:</a:t>
            </a:r>
            <a:endParaRPr sz="2800">
              <a:latin typeface="Ariel"/>
              <a:cs typeface="Ariel"/>
            </a:endParaRPr>
          </a:p>
          <a:p>
            <a:pPr marL="0" indent="0">
              <a:buFont typeface="Arial"/>
              <a:buNone/>
              <a:defRPr/>
            </a:pPr>
            <a:r>
              <a:rPr sz="2800" b="0" i="1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Катодное покрытие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 (покрывающий металл менее активен).</a:t>
            </a:r>
            <a:r>
              <a:rPr sz="2800">
                <a:latin typeface="Arial"/>
                <a:ea typeface="Arial"/>
                <a:cs typeface="Arial"/>
              </a:rPr>
              <a:t> </a:t>
            </a: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 Например, лужёное железо (покрытие Sn)</a:t>
            </a:r>
            <a:endParaRPr sz="2800"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sz="2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Анодное покрытие</a:t>
            </a:r>
            <a:r>
              <a:rPr sz="2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 (покрывающий металл более 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активен). Например, оцинковка (покрытие Zn)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266158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ctr">
              <a:defRPr/>
            </a:pPr>
            <a:r>
              <a:rPr lang="ru-RU" b="1">
                <a:solidFill>
                  <a:schemeClr val="tx1"/>
                </a:solidFill>
              </a:rPr>
              <a:t>СПАСИБО ЗА ВНИМАНИЕ!</a:t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37489536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ru-RU" sz="3600">
                <a:solidFill>
                  <a:schemeClr val="tx1"/>
                </a:solidFill>
              </a:rPr>
              <a:t>Источники информации</a:t>
            </a:r>
            <a:r>
              <a:rPr lang="en-US" sz="3600">
                <a:solidFill>
                  <a:schemeClr val="tx1"/>
                </a:solidFill>
              </a:rPr>
              <a:t>:</a:t>
            </a:r>
            <a:endParaRPr lang="en-US"/>
          </a:p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Габриелян О.С. Химия. 9 класс: учеб. для общеобразоват. учреждений. – М.: Дрофа</a:t>
            </a:r>
            <a:endParaRPr sz="2800">
              <a:latin typeface="Ariel"/>
              <a:cs typeface="Ariel"/>
            </a:endParaRPr>
          </a:p>
          <a:p>
            <a:pPr>
              <a:defRPr/>
            </a:pP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Сайт “</a:t>
            </a:r>
            <a:r>
              <a:rPr lang="ru-RU"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Наука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 и жизнь” – статья “Коррозия</a:t>
            </a:r>
            <a:r>
              <a:rPr lang="ru-RU"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 или жизнь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?” (</a:t>
            </a:r>
            <a:r>
              <a:rPr sz="2800" b="0" i="0" u="sng">
                <a:solidFill>
                  <a:srgbClr val="000000"/>
                </a:solidFill>
                <a:latin typeface="Ariel"/>
                <a:ea typeface="Ariel"/>
                <a:cs typeface="Ariel"/>
                <a:hlinkClick r:id="rId3" tooltip=""/>
              </a:rPr>
              <a:t>https://hij.ru/</a:t>
            </a:r>
            <a:r>
              <a:rPr sz="2800" b="0" i="0" u="none">
                <a:solidFill>
                  <a:srgbClr val="000000"/>
                </a:solidFill>
                <a:latin typeface="Ariel"/>
                <a:ea typeface="Ariel"/>
                <a:cs typeface="Ariel"/>
              </a:rPr>
              <a:t>).</a:t>
            </a:r>
            <a:endParaRPr lang="en-US"/>
          </a:p>
        </p:txBody>
      </p:sp>
      <p:pic>
        <p:nvPicPr>
          <p:cNvPr id="1070055669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717591" y="4329545"/>
            <a:ext cx="2543680" cy="252672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ONLYOFFICE/9.3.1.8</Application>
  <PresentationFormat>On-screen Show (4:3)</PresentationFormat>
  <Paragraphs>0</Paragraphs>
  <Slides>8</Slides>
  <Notes>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</cp:revision>
  <dcterms:modified xsi:type="dcterms:W3CDTF">2026-05-12T17:56:52Z</dcterms:modified>
</cp:coreProperties>
</file>