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22336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351262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194440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572156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89304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75755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2955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3883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053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483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58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389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BE6DC3-BB95-DDEA-AC61-341929A62E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655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5759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051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2C450B-F8F3-C4F2-57B6-B9F19FCC32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721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920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287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9D536-540F-B3D4-C1EB-15A5A41210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828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130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7556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8A3E1-22D3-B29C-6196-DDDB872C2D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6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8968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470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0CEBDB-26D6-7919-A7BF-973BF3685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576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66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959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E48261-168E-A168-C441-881A9819BF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954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077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540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029A-2740-3B14-58F4-990AF0D0E3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078300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6755867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7609159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8498074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20464751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69534580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717135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457568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140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4342817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8070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476373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98646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108478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8904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27673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06771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880764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899432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4612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3164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5524533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39625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29735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185337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960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6595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013101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436200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708639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6084870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569962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8294420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96150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652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6892078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3996050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85588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51263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8216971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2671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767484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68856565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248080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855364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010136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103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671305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575018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06890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086040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626902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9696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4214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6982679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55181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488908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265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861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385096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451689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057321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9224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895946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6141818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31168153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32627722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739907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457815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924842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77359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hij.ru/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28851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646998" y="1808820"/>
            <a:ext cx="9669579" cy="72007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7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Коррозия металлов</a:t>
            </a:r>
            <a:r>
              <a:rPr lang="en-US" sz="7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br>
              <a:rPr lang="en-US" sz="7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7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Защита от коррозии</a:t>
            </a:r>
            <a:r>
              <a:rPr lang="en-US" sz="7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7200">
              <a:solidFill>
                <a:schemeClr val="tx1"/>
              </a:solidFill>
            </a:endParaRPr>
          </a:p>
        </p:txBody>
      </p:sp>
      <p:sp>
        <p:nvSpPr>
          <p:cNvPr id="55192894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8056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7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Что такое коррозия</a:t>
            </a:r>
            <a:endParaRPr sz="7200">
              <a:latin typeface="Arial"/>
              <a:cs typeface="Arial"/>
            </a:endParaRPr>
          </a:p>
        </p:txBody>
      </p:sp>
      <p:sp>
        <p:nvSpPr>
          <p:cNvPr id="108829827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Коррозия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(от лат. </a:t>
            </a:r>
            <a:r>
              <a:rPr sz="2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corrodere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разъедать) — самопроизвольное разрушение металлов под воздействием окружающей среды. С химической точки зрения это </a:t>
            </a:r>
            <a:r>
              <a:rPr lang="ru-RU"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ОВР (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окислительно-восстановительн</a:t>
            </a:r>
            <a:r>
              <a:rPr lang="ru-RU"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ая реакция</a:t>
            </a:r>
            <a:r>
              <a:rPr lang="ru-RU"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где металл отдаёт электроны (</a:t>
            </a:r>
            <a:r>
              <a:rPr lang="ru-RU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восстановитель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).</a:t>
            </a:r>
            <a:endParaRPr sz="2800"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оррозия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— это путь металла к его природному состоянию.  Большинство металлов в земной коре находятся в виде оксидов или солей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руда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). Мы затрачиваем энергию, чтобы получить чистый металл, а коррозия  возвращает его обратно.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259895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 algn="l">
              <a:defRPr/>
            </a:pPr>
            <a:r>
              <a:rPr lang="ru-RU" sz="7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Виды коррозии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7216617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3600" b="1"/>
              <a:t>По механизму</a:t>
            </a:r>
            <a:endParaRPr lang="ru-RU" sz="3600" b="1"/>
          </a:p>
          <a:p>
            <a:pPr marL="0" indent="0">
              <a:buFont typeface="Arial"/>
              <a:buNone/>
              <a:defRPr/>
            </a:pPr>
            <a:endParaRPr lang="ru-RU"/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Химическая коррозия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прямое взаимодействие металла с сухими газами (O₂, Cl₂, SO₂) без участия электролита.</a:t>
            </a:r>
            <a:endParaRPr sz="2800"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>
                <a:latin typeface="Arial"/>
                <a:ea typeface="Arial"/>
                <a:cs typeface="Arial"/>
              </a:rPr>
              <a:t>Например</a:t>
            </a:r>
            <a:r>
              <a:rPr lang="en-US" sz="2800">
                <a:latin typeface="Arial"/>
                <a:ea typeface="Arial"/>
                <a:cs typeface="Arial"/>
              </a:rPr>
              <a:t>: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потускнение серебра из-за сероводорода</a:t>
            </a:r>
            <a:br>
              <a:rPr lang="en-US" sz="2800">
                <a:latin typeface="Arial"/>
                <a:ea typeface="Arial"/>
                <a:cs typeface="Arial"/>
              </a:rPr>
            </a:br>
            <a:r>
              <a:rPr sz="3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4Ag + 2H₂S + O₂ </a:t>
            </a:r>
            <a:r>
              <a:rPr sz="3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2Ag₂S + 2H₂O</a:t>
            </a:r>
            <a:endParaRPr lang="ru-RU" sz="3600"/>
          </a:p>
          <a:p>
            <a:pPr marL="0" indent="0">
              <a:buFont typeface="Arial"/>
              <a:buNone/>
              <a:defRPr/>
            </a:pPr>
            <a:endParaRPr lang="ru-RU"/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el"/>
                <a:ea typeface="Ariel"/>
                <a:cs typeface="Ariel"/>
              </a:rPr>
              <a:t>Электрохимическая коррозия</a:t>
            </a:r>
            <a:r>
              <a:rPr sz="2800" b="0" i="0" u="none">
                <a:solidFill>
                  <a:srgbClr val="000000"/>
                </a:solidFill>
                <a:latin typeface="Ariel"/>
                <a:ea typeface="Ariel"/>
                <a:cs typeface="Ariel"/>
              </a:rPr>
              <a:t> – возникает в присутствии электролита (вода с растворёнными солями) и  образовании гальванических пар. Cамая распространённая форма </a:t>
            </a:r>
            <a:r>
              <a:rPr lang="ru-RU" sz="2800" b="0" i="0" u="none">
                <a:solidFill>
                  <a:srgbClr val="000000"/>
                </a:solidFill>
                <a:latin typeface="Ariel"/>
                <a:ea typeface="Ariel"/>
                <a:cs typeface="Ariel"/>
              </a:rPr>
              <a:t>коррозии</a:t>
            </a:r>
            <a:r>
              <a:rPr sz="2800" b="0" i="0" u="none">
                <a:solidFill>
                  <a:srgbClr val="000000"/>
                </a:solidFill>
                <a:latin typeface="Ariel"/>
                <a:ea typeface="Ariel"/>
                <a:cs typeface="Ariel"/>
              </a:rPr>
              <a:t>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23881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50822322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274638"/>
            <a:ext cx="10972800" cy="58515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3600" b="1"/>
              <a:t>П</a:t>
            </a:r>
            <a:r>
              <a:rPr lang="ru-RU" sz="3600" b="1"/>
              <a:t>о характеру разрушения</a:t>
            </a:r>
            <a:endParaRPr lang="ru-RU" sz="3600" b="1"/>
          </a:p>
          <a:p>
            <a:pPr marL="0" indent="0">
              <a:buFont typeface="Arial"/>
              <a:buNone/>
              <a:defRPr/>
            </a:pPr>
            <a:endParaRPr lang="ru-RU"/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Сплошная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(равномерная) – ржавчина по всей поверхности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Местная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(точечная, язвенная, межкристаллитная) – самая опасная, так как снижает прочность незаметно.</a:t>
            </a:r>
            <a:endParaRPr lang="ru-RU" sz="2800">
              <a:latin typeface="Ariel"/>
              <a:ea typeface="Ariel"/>
              <a:cs typeface="Ariel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Контактная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между двумя разными металлами (например, железо и медь).</a:t>
            </a:r>
            <a:endParaRPr lang="ru-RU"/>
          </a:p>
        </p:txBody>
      </p:sp>
      <p:pic>
        <p:nvPicPr>
          <p:cNvPr id="7718022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9" y="4468090"/>
            <a:ext cx="4050763" cy="1939636"/>
          </a:xfrm>
          <a:prstGeom prst="rect">
            <a:avLst/>
          </a:prstGeom>
        </p:spPr>
      </p:pic>
      <p:pic>
        <p:nvPicPr>
          <p:cNvPr id="188571977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85352" y="4268065"/>
            <a:ext cx="3212629" cy="2139661"/>
          </a:xfrm>
          <a:prstGeom prst="rect">
            <a:avLst/>
          </a:prstGeom>
        </p:spPr>
      </p:pic>
      <p:pic>
        <p:nvPicPr>
          <p:cNvPr id="748229515" name=""/>
          <p:cNvPicPr>
            <a:picLocks noChangeAspect="1"/>
          </p:cNvPicPr>
          <p:nvPr/>
        </p:nvPicPr>
        <p:blipFill rotWithShape="1">
          <a:blip r:embed="rId5"/>
          <a:srcRect l="46852" t="0" r="0" b="0"/>
          <a:stretch/>
        </p:blipFill>
        <p:spPr bwMode="auto">
          <a:xfrm flipH="0" flipV="0">
            <a:off x="8312767" y="4434753"/>
            <a:ext cx="3269631" cy="19729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7102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274638"/>
            <a:ext cx="10972800" cy="24490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endParaRPr/>
          </a:p>
        </p:txBody>
      </p:sp>
      <p:sp>
        <p:nvSpPr>
          <p:cNvPr id="19017356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274638"/>
            <a:ext cx="10972800" cy="58515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280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Рассмотрим</a:t>
            </a:r>
            <a:r>
              <a:rPr lang="en-US" sz="280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ржавление железа – классический пример электрохимической коррозии</a:t>
            </a:r>
            <a:endParaRPr lang="ru-RU" sz="280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ru-RU" sz="280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Условия: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наличие  воды и кислорода. На поверхности железа из-за примесей (углерод)  образуются микрогальванопары: анод – железо, катод – примесь.</a:t>
            </a:r>
            <a:endParaRPr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tx1"/>
              </a:solidFill>
              <a:latin typeface="Ariel"/>
              <a:cs typeface="Ariel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Стадия 1 – Электрохимическая (работа гальванопары)</a:t>
            </a:r>
            <a:b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Одновременно идут два процесса: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 аноде: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Fe⁰ – 2e⁻ → Fe²⁺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 катоде: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O₂ + 2H₂O + 4e⁻ → 4OH⁻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бразование ионов Fe²⁺ и OH⁻.</a:t>
            </a:r>
            <a:endParaRPr sz="2800">
              <a:solidFill>
                <a:schemeClr val="tx1"/>
              </a:solidFill>
              <a:latin typeface="Ariel"/>
              <a:cs typeface="Ariel"/>
            </a:endParaRPr>
          </a:p>
          <a:p>
            <a:pPr marL="0" indent="0">
              <a:buFont typeface="Arial"/>
              <a:buNone/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1652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274638"/>
            <a:ext cx="10972800" cy="19295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endParaRPr/>
          </a:p>
        </p:txBody>
      </p:sp>
      <p:sp>
        <p:nvSpPr>
          <p:cNvPr id="4708551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274638"/>
            <a:ext cx="10972800" cy="63755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Стадия 2 – Химическая (образование осадка)</a:t>
            </a:r>
            <a:b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Встречаясь в растворе, ионы реагируют:</a:t>
            </a:r>
            <a:b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Fe²⁺ + 2OH⁻ → Fe(OH)₂↓</a:t>
            </a:r>
            <a:endParaRPr sz="25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Fe(OH)₂</a:t>
            </a:r>
            <a:r>
              <a:rPr lang="ru-RU">
                <a:latin typeface="Arial"/>
                <a:ea typeface="Arial"/>
                <a:cs typeface="Arial"/>
              </a:rPr>
              <a:t> —</a:t>
            </a:r>
            <a:r>
              <a:rPr lang="ru-RU">
                <a:solidFill>
                  <a:schemeClr val="tx1"/>
                </a:solidFill>
                <a:latin typeface="Arial"/>
                <a:ea typeface="Arial"/>
                <a:cs typeface="Arial"/>
              </a:rPr>
              <a:t> белый осадок гидроксида железа</a:t>
            </a:r>
            <a:r>
              <a:rPr lang="en-US">
                <a:solidFill>
                  <a:schemeClr val="tx1"/>
                </a:solidFill>
                <a:latin typeface="Arial"/>
                <a:ea typeface="Arial"/>
                <a:cs typeface="Arial"/>
              </a:rPr>
              <a:t>(II)</a:t>
            </a:r>
            <a:endParaRPr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Стадия 3 – Окисление (ржавление)</a:t>
            </a:r>
            <a:b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Осадок Fe(OH)₂ неустойчив и окисляется кислородом воздуха:</a:t>
            </a:r>
            <a:b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4Fe(OH)₂ + O₂ + 2H₂O → 4Fe(OH)₃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>
                <a:latin typeface="Arial"/>
                <a:ea typeface="Arial"/>
                <a:cs typeface="Arial"/>
              </a:rPr>
              <a:t>Б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елый осадок гидроксида железа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(II)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превращается в бурый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Стадия 4 – Высыхание (старение)</a:t>
            </a:r>
            <a:b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 временем Fe(OH)₃ теряет воду и превращается в оксид:</a:t>
            </a:r>
            <a:b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2Fe(OH)₃ → Fe₂O₃·nH₂O + (3–n)H₂O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3176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sz="5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Способы защиты от коррозии</a:t>
            </a:r>
            <a:endParaRPr sz="5600">
              <a:latin typeface="Arial"/>
              <a:cs typeface="Arial"/>
            </a:endParaRPr>
          </a:p>
        </p:txBody>
      </p:sp>
      <p:sp>
        <p:nvSpPr>
          <p:cNvPr id="22771320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417638"/>
            <a:ext cx="10972800" cy="50846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Изменение состава металла – легирование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Добавление  хрома, никеля даёт нержавеющую сталь. Хром образует на поверхности  плотную оксидную плёнку Cr₂O₃, которая не даёт окисляться железу.</a:t>
            </a:r>
            <a:endParaRPr sz="28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Защитные покрытия</a:t>
            </a:r>
            <a:endParaRPr sz="28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Неметаллические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8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Л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аки, краски, эмали, смазки. Изолируют металл от O₂ и H₂O.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Металлические покрытия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Катодное покрытие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(покрывающий металл менее активен).</a:t>
            </a:r>
            <a:r>
              <a:rPr sz="2800"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Например, лужёное железо (покрытие Sn)</a:t>
            </a:r>
            <a:endParaRPr sz="2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8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Анодное покрытие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(покрывающий металл более 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активен). Например, оцинковка (покрытие Zn)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5396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b="1">
                <a:solidFill>
                  <a:schemeClr val="tx1"/>
                </a:solidFill>
              </a:rPr>
              <a:t>СПАСИБО ЗА ВНИМАНИЕ!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0215345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3600">
                <a:solidFill>
                  <a:schemeClr val="tx1"/>
                </a:solidFill>
                <a:latin typeface="Arial"/>
                <a:ea typeface="Arial"/>
                <a:cs typeface="Arial"/>
              </a:rPr>
              <a:t>Источники информации</a:t>
            </a:r>
            <a:r>
              <a:rPr lang="en-US" sz="360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Габриелян О.С. Химия. 9 класс: учеб. для общеобразоват. учреждений. – М.: Дрофа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Сайт “</a:t>
            </a:r>
            <a:r>
              <a:rPr lang="ru-RU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Наука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жизнь” – статья “Коррозия</a:t>
            </a:r>
            <a:r>
              <a:rPr lang="ru-RU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или жизнь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?” (</a:t>
            </a:r>
            <a:r>
              <a:rPr sz="2800" b="0" i="0" u="sng">
                <a:solidFill>
                  <a:srgbClr val="000000"/>
                </a:solidFill>
                <a:latin typeface="Arial"/>
                <a:ea typeface="Arial"/>
                <a:cs typeface="Arial"/>
                <a:hlinkClick r:id="rId3" tooltip=""/>
              </a:rPr>
              <a:t>https://hij.ru/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).</a:t>
            </a:r>
            <a:endParaRPr lang="en-US"/>
          </a:p>
        </p:txBody>
      </p:sp>
      <p:pic>
        <p:nvPicPr>
          <p:cNvPr id="149429637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717591" y="4329545"/>
            <a:ext cx="2543680" cy="2526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2026-05-13T04:13:16Z</dcterms:modified>
</cp:coreProperties>
</file>