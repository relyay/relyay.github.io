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368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2107208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97971932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2741754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6798738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392035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4387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4786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997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BE6DC3-BB95-DDEA-AC61-341929A62E1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1356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1508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619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2C450B-F8F3-C4F2-57B6-B9F19FCC32F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78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2944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7011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9D536-540F-B3D4-C1EB-15A5A41210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98A3E1-22D3-B29C-6196-DDDB872C2D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0CEBDB-26D6-7919-A7BF-973BF3685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E48261-168E-A168-C441-881A9819BF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029A-2740-3B14-58F4-990AF0D0E3C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855647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4205068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6740447" name="Shape 1061"/>
          <p:cNvSpPr>
            <a:spLocks noChangeArrowheads="1" noGrp="1"/>
          </p:cNvSpPr>
          <p:nvPr userDrawn="1"/>
        </p:nvSpPr>
        <p:spPr bwMode="auto">
          <a:xfrm>
            <a:off x="6567031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69665106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44657836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17312919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6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2211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508750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2259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719060107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6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0192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4442387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97919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1716930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9750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1012762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457786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813354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776259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8526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011970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7878310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9822043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598007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227210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50729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98100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6407279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817695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738583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2334220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5137667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7912884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55366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4518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2851944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5067132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422589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886447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5555838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44223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55852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1108666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8274736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076339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41382567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9899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874374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7924342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84803029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891059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723621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5233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6282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4566162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737029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518768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648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67486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5430487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076147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301429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351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48983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31685728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90147445" name="Shape 1061"/>
          <p:cNvSpPr>
            <a:spLocks noChangeArrowheads="1" noGrp="1"/>
          </p:cNvSpPr>
          <p:nvPr userDrawn="1"/>
        </p:nvSpPr>
        <p:spPr bwMode="auto">
          <a:xfrm>
            <a:off x="1637457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65859893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3513898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3797557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901729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26830594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hij.ru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8106433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646999" y="1808820"/>
            <a:ext cx="9669579" cy="72007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 algn="l">
              <a:defRPr/>
            </a:pPr>
            <a:r>
              <a:rPr lang="ru-RU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Коррозия металлов</a:t>
            </a:r>
            <a:r>
              <a:rPr lang="en-US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.</a:t>
            </a:r>
            <a:br>
              <a:rPr lang="en-US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</a:br>
            <a:r>
              <a:rPr lang="ru-RU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Защита от коррозии</a:t>
            </a:r>
            <a:r>
              <a:rPr lang="en-US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.</a:t>
            </a:r>
            <a:endParaRPr sz="7200">
              <a:solidFill>
                <a:schemeClr val="tx1"/>
              </a:solidFill>
            </a:endParaRPr>
          </a:p>
        </p:txBody>
      </p:sp>
      <p:sp>
        <p:nvSpPr>
          <p:cNvPr id="1287234002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7754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7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такое коррозия</a:t>
            </a:r>
            <a:endParaRPr sz="7200">
              <a:latin typeface="Arial"/>
              <a:cs typeface="Arial"/>
            </a:endParaRPr>
          </a:p>
        </p:txBody>
      </p:sp>
      <p:sp>
        <p:nvSpPr>
          <p:cNvPr id="1075541683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Коррозия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(от лат. </a:t>
            </a:r>
            <a:r>
              <a:rPr sz="2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corrodere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— разъедать) — самопроизвольное разрушение металлов под воздействием окружающей среды. С химической точки зрения это </a:t>
            </a:r>
            <a:r>
              <a:rPr lang="ru-RU"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ОВР (</a:t>
            </a: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окислительно-восстановительн</a:t>
            </a:r>
            <a:r>
              <a:rPr lang="ru-RU"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ая реакция</a:t>
            </a:r>
            <a:r>
              <a:rPr lang="ru-RU"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, где металл отдаёт электроны (</a:t>
            </a:r>
            <a:r>
              <a:rPr lang="ru-RU"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восстановитель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).</a:t>
            </a:r>
            <a:endParaRPr sz="2800"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2800"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К</a:t>
            </a: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оррозия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— это путь металла к его природному состоянию.  Большинство металлов в земной коре находятся в виде оксидов или солей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руда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). Мы затрачиваем энергию, чтобы получить чистый металл, а коррозия  возвращает его обратно.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7103420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 algn="l">
              <a:defRPr/>
            </a:pPr>
            <a:r>
              <a:rPr lang="ru-RU" sz="7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Виды коррозии</a:t>
            </a:r>
            <a:endParaRPr sz="7200">
              <a:latin typeface="Arial"/>
              <a:cs typeface="Arial"/>
            </a:endParaRPr>
          </a:p>
        </p:txBody>
      </p:sp>
      <p:sp>
        <p:nvSpPr>
          <p:cNvPr id="450379568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3600" b="1"/>
              <a:t>По механизму</a:t>
            </a:r>
            <a:endParaRPr lang="ru-RU" sz="3600" b="1"/>
          </a:p>
          <a:p>
            <a:pPr marL="0" indent="0">
              <a:buFont typeface="Arial"/>
              <a:buNone/>
              <a:defRPr/>
            </a:pPr>
            <a:endParaRPr lang="ru-RU"/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Химическая коррозия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– прямое взаимодействие металла с сухими газами (O₂, Cl₂, SO₂) без участия электролита.</a:t>
            </a:r>
            <a:endParaRPr sz="2800"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>
                <a:latin typeface="Arial"/>
                <a:ea typeface="Arial"/>
                <a:cs typeface="Arial"/>
              </a:rPr>
              <a:t>Например</a:t>
            </a:r>
            <a:r>
              <a:rPr lang="en-US" sz="2800">
                <a:latin typeface="Arial"/>
                <a:ea typeface="Arial"/>
                <a:cs typeface="Arial"/>
              </a:rPr>
              <a:t>: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потускнение серебра из-за сероводорода</a:t>
            </a:r>
            <a:br>
              <a:rPr lang="en-US" sz="2800">
                <a:latin typeface="Arial"/>
                <a:ea typeface="Arial"/>
                <a:cs typeface="Arial"/>
              </a:rPr>
            </a:br>
            <a:r>
              <a:rPr sz="36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4Ag + 2H₂S + O₂ </a:t>
            </a:r>
            <a:r>
              <a:rPr sz="36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→ 2Ag₂S + 2H₂O</a:t>
            </a:r>
            <a:endParaRPr lang="ru-RU" sz="3600"/>
          </a:p>
          <a:p>
            <a:pPr marL="0" indent="0">
              <a:buFont typeface="Arial"/>
              <a:buNone/>
              <a:defRPr/>
            </a:pPr>
            <a:endParaRPr lang="ru-RU"/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Электрохимическая коррозия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– возникает в присутствии электролита (вода с растворёнными солями) и  образовании гальванических пар. Cамая распространённая форма </a:t>
            </a:r>
            <a:r>
              <a:rPr lang="ru-RU"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коррозии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.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0908663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  <p:sp>
        <p:nvSpPr>
          <p:cNvPr id="214551488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74638"/>
            <a:ext cx="10972800" cy="58515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ru-RU" sz="3600" b="1"/>
              <a:t>П</a:t>
            </a:r>
            <a:r>
              <a:rPr lang="ru-RU" sz="3600" b="1"/>
              <a:t>о характеру разрушения</a:t>
            </a:r>
            <a:endParaRPr lang="ru-RU" sz="3600" b="1"/>
          </a:p>
          <a:p>
            <a:pPr marL="0" indent="0">
              <a:buFont typeface="Arial"/>
              <a:buNone/>
              <a:defRPr/>
            </a:pPr>
            <a:endParaRPr lang="ru-RU"/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Сплошная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(равномерная) – ржавчина по всей поверхности</a:t>
            </a:r>
            <a:endParaRPr lang="ru-RU" sz="2800">
              <a:latin typeface="Ariel"/>
              <a:ea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Местная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(точечная, язвенная, межкристаллитная) – самая опасная, так как снижает прочность незаметно.</a:t>
            </a:r>
            <a:endParaRPr lang="ru-RU" sz="2800">
              <a:latin typeface="Ariel"/>
              <a:ea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Контактная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– между двумя разными металлами (например, железо и медь).</a:t>
            </a:r>
            <a:endParaRPr lang="ru-RU"/>
          </a:p>
        </p:txBody>
      </p:sp>
      <p:pic>
        <p:nvPicPr>
          <p:cNvPr id="144119442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09599" y="4468090"/>
            <a:ext cx="4050763" cy="1939636"/>
          </a:xfrm>
          <a:prstGeom prst="rect">
            <a:avLst/>
          </a:prstGeom>
        </p:spPr>
      </p:pic>
      <p:pic>
        <p:nvPicPr>
          <p:cNvPr id="101294072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885352" y="4268065"/>
            <a:ext cx="3212629" cy="2139661"/>
          </a:xfrm>
          <a:prstGeom prst="rect">
            <a:avLst/>
          </a:prstGeom>
        </p:spPr>
      </p:pic>
      <p:pic>
        <p:nvPicPr>
          <p:cNvPr id="525383448" name=""/>
          <p:cNvPicPr>
            <a:picLocks noChangeAspect="1"/>
          </p:cNvPicPr>
          <p:nvPr/>
        </p:nvPicPr>
        <p:blipFill rotWithShape="1">
          <a:blip r:embed="rId5"/>
          <a:srcRect l="46852" t="0" r="0" b="0"/>
          <a:stretch/>
        </p:blipFill>
        <p:spPr bwMode="auto">
          <a:xfrm flipH="0" flipV="0">
            <a:off x="8312767" y="4434753"/>
            <a:ext cx="3269631" cy="197297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32571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09599" y="274638"/>
            <a:ext cx="10972800" cy="24490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endParaRPr/>
          </a:p>
        </p:txBody>
      </p:sp>
      <p:sp>
        <p:nvSpPr>
          <p:cNvPr id="13348672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74638"/>
            <a:ext cx="10972800" cy="58515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800">
                <a:solidFill>
                  <a:schemeClr val="tx1"/>
                </a:solidFill>
                <a:latin typeface="Arial"/>
                <a:ea typeface="Arial"/>
                <a:cs typeface="Arial"/>
              </a:rPr>
              <a:t>Рассмотрим</a:t>
            </a:r>
            <a:r>
              <a:rPr lang="en-US" sz="280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ржавление железа – классический пример электрохимической коррозии</a:t>
            </a:r>
            <a:endParaRPr lang="ru-RU" sz="280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lang="ru-RU" sz="280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Условия: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наличие  воды и кислорода. На поверхности железа из-за примесей (углерод)  образуются микрогальванопары: анод – железо, катод – примесь.</a:t>
            </a:r>
            <a:endParaRPr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tx1"/>
              </a:solidFill>
              <a:latin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Стадия 1 – Электрохимическая (работа гальванопары)</a:t>
            </a:r>
            <a:b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</a:b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Одновременно идут два процесса:</a:t>
            </a:r>
            <a:endParaRPr sz="2800">
              <a:latin typeface="Ariel"/>
              <a:cs typeface="Arie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На аноде: 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Fe⁰ – 2e⁻ → Fe²⁺</a:t>
            </a:r>
            <a:endParaRPr sz="2800">
              <a:latin typeface="Ariel"/>
              <a:cs typeface="Arie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На катоде: 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O₂ + 2H₂O + 4e⁻ → 4OH⁻</a:t>
            </a:r>
            <a:endParaRPr sz="2800">
              <a:latin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О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бразование ионов Fe²⁺ и OH⁻.</a:t>
            </a:r>
            <a:endParaRPr sz="2800">
              <a:solidFill>
                <a:schemeClr val="tx1"/>
              </a:solidFill>
              <a:latin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53364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09599" y="274638"/>
            <a:ext cx="10972800" cy="19295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endParaRPr/>
          </a:p>
        </p:txBody>
      </p:sp>
      <p:sp>
        <p:nvSpPr>
          <p:cNvPr id="153723691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74638"/>
            <a:ext cx="10972800" cy="637554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Стадия 2 – Химическая (образование осадка)</a:t>
            </a:r>
            <a:b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</a:b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Встречаясь в растворе, ионы реагируют:</a:t>
            </a:r>
            <a:b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</a:b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Fe²⁺ + 2OH⁻ → Fe(OH)₂↓</a:t>
            </a:r>
            <a:endParaRPr sz="2500">
              <a:latin typeface="Ariel"/>
              <a:ea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lang="en-US" sz="3200" b="0" i="0" u="none" strike="noStrike" cap="none" spc="0">
                <a:solidFill>
                  <a:srgbClr val="000000"/>
                </a:solidFill>
                <a:latin typeface="Ariel"/>
                <a:ea typeface="Ariel"/>
                <a:cs typeface="Ariel"/>
              </a:rPr>
              <a:t>Fe(OH)₂</a:t>
            </a:r>
            <a:r>
              <a:rPr lang="ru-RU"/>
              <a:t> —</a:t>
            </a:r>
            <a:r>
              <a:rPr lang="ru-RU">
                <a:solidFill>
                  <a:schemeClr val="tx1"/>
                </a:solidFill>
              </a:rPr>
              <a:t> белый осадок гидроксида железа</a:t>
            </a:r>
            <a:r>
              <a:rPr lang="en-US">
                <a:solidFill>
                  <a:schemeClr val="tx1"/>
                </a:solidFill>
              </a:rPr>
              <a:t>(II)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Стадия 3 – Окисление (ржавление)</a:t>
            </a:r>
            <a:b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Осадок Fe(OH)₂ неустойчив и окисляется кислородом воздуха:</a:t>
            </a:r>
            <a:b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4Fe(OH)₂ + O₂ + 2H₂O → 4Fe(OH)₃</a:t>
            </a:r>
            <a:endParaRPr lang="en-US" sz="2800"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>
                <a:latin typeface="Arial"/>
                <a:ea typeface="Arial"/>
                <a:cs typeface="Arial"/>
              </a:rPr>
              <a:t>Б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елый осадок гидроксида железа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(II)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превращается в бурый</a:t>
            </a:r>
            <a:endParaRPr lang="en-US" sz="2800"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lang="en-US"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Стадия 4 – Высыхание (старение)</a:t>
            </a:r>
            <a:b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Со временем Fe(OH)₃ теряет воду и превращается в оксид:</a:t>
            </a:r>
            <a:b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2Fe(OH)₃ → Fe₂O₃·nH₂O + (3–n)H₂O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07491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l">
              <a:defRPr/>
            </a:pPr>
            <a:r>
              <a:rPr sz="56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Способы защиты от коррозии</a:t>
            </a:r>
            <a:endParaRPr sz="5600">
              <a:latin typeface="Arial"/>
              <a:cs typeface="Arial"/>
            </a:endParaRPr>
          </a:p>
        </p:txBody>
      </p:sp>
      <p:sp>
        <p:nvSpPr>
          <p:cNvPr id="152441333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417638"/>
            <a:ext cx="10972800" cy="50846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 Arial"/>
                <a:ea typeface=" Arial"/>
                <a:cs typeface=" Arial"/>
              </a:rPr>
              <a:t>1. Изменение состава металла – легирование</a:t>
            </a:r>
            <a:endParaRPr sz="2800">
              <a:latin typeface=" Arial"/>
              <a:cs typeface=" Arial"/>
            </a:endParaRPr>
          </a:p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rgbClr val="000000"/>
                </a:solidFill>
                <a:latin typeface=" Arial"/>
                <a:ea typeface=" Arial"/>
                <a:cs typeface=" Arial"/>
              </a:rPr>
              <a:t>Добавление  хрома, никеля даёт нержавеющую сталь. Хром образует на поверхности  плотную оксидную плёнку Cr₂O₃, которая не даёт окисляться железу.</a:t>
            </a:r>
            <a:endParaRPr sz="2800" b="0" i="0" u="none">
              <a:solidFill>
                <a:srgbClr val="000000"/>
              </a:solidFill>
              <a:latin typeface=" Arial"/>
              <a:ea typeface=" Arial"/>
              <a:cs typeface=" Aria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 Защитные покрытия</a:t>
            </a:r>
            <a:endParaRPr sz="2800" b="0" i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Неметаллические</a:t>
            </a: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: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</a:t>
            </a:r>
            <a:endParaRPr sz="2800" b="0" i="0" u="none">
              <a:solidFill>
                <a:srgbClr val="000000"/>
              </a:solidFill>
              <a:latin typeface="Ariel"/>
              <a:ea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Л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аки, краски, эмали, смазки. Изолируют металл от O₂ и H₂O.</a:t>
            </a:r>
            <a:endParaRPr sz="2800">
              <a:latin typeface="Ariel"/>
              <a:cs typeface="Arie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Металлические покрытия</a:t>
            </a: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:</a:t>
            </a:r>
            <a:endParaRPr sz="2800">
              <a:latin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sz="2800" b="0" i="1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Катодное покрытие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(покрывающий металл менее активен).</a:t>
            </a:r>
            <a:r>
              <a:rPr sz="2800">
                <a:latin typeface="Arial"/>
                <a:ea typeface="Arial"/>
                <a:cs typeface="Arial"/>
              </a:rPr>
              <a:t>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Например, лужёное железо (покрытие Sn)</a:t>
            </a:r>
            <a:endParaRPr sz="2800"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sz="2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Анодное покрытие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(покрывающий металл более 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активен). Например, оцинковка (покрытие Zn)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0728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lang="ru-RU" b="1">
                <a:solidFill>
                  <a:schemeClr val="tx1"/>
                </a:solidFill>
              </a:rPr>
              <a:t>СПАСИБО ЗА ВНИМАНИЕ!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68751565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ru-RU" sz="3600">
                <a:solidFill>
                  <a:schemeClr val="tx1"/>
                </a:solidFill>
              </a:rPr>
              <a:t>Источники информации</a:t>
            </a:r>
            <a:r>
              <a:rPr lang="en-US" sz="3600">
                <a:solidFill>
                  <a:schemeClr val="tx1"/>
                </a:solidFill>
              </a:rPr>
              <a:t>:</a:t>
            </a:r>
            <a:endParaRPr lang="en-US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Габриелян О.С. Химия. 9 класс: учеб. для общеобразоват. учреждений. – М.: Дрофа</a:t>
            </a:r>
            <a:endParaRPr sz="2800">
              <a:latin typeface="Ariel"/>
              <a:cs typeface="Arie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Сайт “Химия и жизнь” – статья “Коррозия: бороться или управлять?” (</a:t>
            </a:r>
            <a:r>
              <a:rPr sz="2800" b="0" i="0" u="sng">
                <a:solidFill>
                  <a:srgbClr val="000000"/>
                </a:solidFill>
                <a:latin typeface="Ariel"/>
                <a:ea typeface="Ariel"/>
                <a:cs typeface="Ariel"/>
                <a:hlinkClick r:id="rId3" tooltip=""/>
              </a:rPr>
              <a:t>https://hij.ru/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).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2026-05-12T17:45:50Z</dcterms:modified>
</cp:coreProperties>
</file>